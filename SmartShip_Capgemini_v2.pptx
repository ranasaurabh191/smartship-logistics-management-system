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4" r:id="rId15"/>
    <p:sldId id="273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77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10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5794270" y="1325880"/>
            <a:ext cx="3200400" cy="3200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75" y="300519"/>
            <a:ext cx="2926080" cy="6217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1325880"/>
            <a:ext cx="7772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548640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Management System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644175" y="3120015"/>
            <a:ext cx="4754880" cy="4114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48640" y="3251925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8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 ·  ASP.NET Core  ·  RabbitMQ  ·  SQL Server · React ·  Docker 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3628062"/>
            <a:ext cx="8229600" cy="1108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Saurabh Rana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and Engineering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: 12214994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 Development (Analyst)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55448" y="1084321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59436" cy="3520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1627632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85800" y="14859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paper-based shipment booking &amp; tracking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67512" y="1965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package status or location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2578608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7512" y="2445757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payment handling — no unified verification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054096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5800" y="291302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automation for notifications and admin reporting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5800" y="34015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architecture for growing logistics demand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4005072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67512" y="3872879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document upload or delivery proof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1097280"/>
            <a:ext cx="4114800" cy="3520440"/>
          </a:xfrm>
          <a:prstGeom prst="rect">
            <a:avLst/>
          </a:prstGeom>
          <a:solidFill>
            <a:srgbClr val="002A5C"/>
          </a:solidFill>
          <a:ln/>
          <a:effectLst>
            <a:outerShdw blurRad="50800" dist="50800" dir="5400000" sx="88000" sy="88000" algn="ctr" rotWithShape="0">
              <a:srgbClr val="000000">
                <a:alpha val="8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 Solution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 is a microservices-based logistics management platform providing end-to-end automation of shipment booking, payment handling, real-time tracking, administrative analytics, and centralized gateway-based access.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ASP.NET Core services, SQL Server, RabbitMQ with MassTransit, JWT authentication, Serilog logging, Docker Compose orchestration, and Jenkins-based CI/CD.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3566160"/>
            <a:ext cx="877824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846320" y="3584448"/>
            <a:ext cx="877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846320" y="4005072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815584" y="3566160"/>
            <a:ext cx="877824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815584" y="3584448"/>
            <a:ext cx="877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815584" y="4005072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84848" y="3566160"/>
            <a:ext cx="877824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784848" y="3584448"/>
            <a:ext cx="877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784848" y="4005072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54112" y="3566160"/>
            <a:ext cx="877824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754112" y="3584448"/>
            <a:ext cx="877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754112" y="4005072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7" name="Text 34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LANDSCAPE &amp; RESPONSIBILITIES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59436" cy="804672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801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  :5001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JWT issuance, user lifecycle, UserCreated/Deleted events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74320" y="2029968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274320" y="2029968"/>
            <a:ext cx="59436" cy="804672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2128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  :5002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8680" y="2450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creation, rate calc, pickup scheduling, cancellation, status transitions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4320" y="2962656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274320" y="2962656"/>
            <a:ext cx="59436" cy="804672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4553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035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 :5005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orders (Online/COD), Razorpay verify, saga correlation, payment events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74320" y="3895344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274320" y="3895344"/>
            <a:ext cx="59436" cy="804672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7822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3968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  :5003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68680" y="4315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timeline, doc uploads, delivery proof, event-driven history entries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754880" y="10972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4754880" y="1097280"/>
            <a:ext cx="59436" cy="804672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128016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  :5004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34924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mgmt, reports, dashboard metrics, event-driven admin projections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754880" y="2029968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4754880" y="2029968"/>
            <a:ext cx="59436" cy="804672"/>
          </a:xfrm>
          <a:prstGeom prst="rect">
            <a:avLst/>
          </a:prstGeom>
          <a:solidFill>
            <a:srgbClr val="C050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2212848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4924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 :5006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349240" y="2450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user alerts — email/SMS/push driven by shipment &amp; payment events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4754880" y="2962656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4754880" y="2962656"/>
            <a:ext cx="59436" cy="804672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145536"/>
            <a:ext cx="329184" cy="32918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349240" y="3035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:5000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534924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point: routing, JWT forwarding, service composition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2" name="Text 32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SECURITY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JSON APIs · JWT Bearer · Role-Based Authorization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5029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5029200" cy="402336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9" name="Text 6"/>
          <p:cNvSpPr/>
          <p:nvPr/>
        </p:nvSpPr>
        <p:spPr>
          <a:xfrm>
            <a:off x="365760" y="10789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Endpoints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1563624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Shape 8"/>
          <p:cNvSpPr/>
          <p:nvPr/>
        </p:nvSpPr>
        <p:spPr>
          <a:xfrm>
            <a:off x="320040" y="1581912"/>
            <a:ext cx="475488" cy="219456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2" name="Text 9"/>
          <p:cNvSpPr/>
          <p:nvPr/>
        </p:nvSpPr>
        <p:spPr>
          <a:xfrm>
            <a:off x="320040" y="158191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/api/shipments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1600200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5" name="Text 12"/>
          <p:cNvSpPr/>
          <p:nvPr/>
        </p:nvSpPr>
        <p:spPr>
          <a:xfrm>
            <a:off x="3172968" y="16002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877056" y="1563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shipment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" y="1906524"/>
            <a:ext cx="475488" cy="219456"/>
          </a:xfrm>
          <a:prstGeom prst="rect">
            <a:avLst/>
          </a:prstGeom>
          <a:solidFill>
            <a:srgbClr val="9A6B00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8" name="Text 15"/>
          <p:cNvSpPr/>
          <p:nvPr/>
        </p:nvSpPr>
        <p:spPr>
          <a:xfrm>
            <a:off x="320040" y="190652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41248" y="18882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/api/shipments/pickup/{id}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172968" y="1924812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1" name="Text 18"/>
          <p:cNvSpPr/>
          <p:nvPr/>
        </p:nvSpPr>
        <p:spPr>
          <a:xfrm>
            <a:off x="3172968" y="192481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18882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pickup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2212848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4" name="Shape 21"/>
          <p:cNvSpPr/>
          <p:nvPr/>
        </p:nvSpPr>
        <p:spPr>
          <a:xfrm>
            <a:off x="320040" y="2231136"/>
            <a:ext cx="475488" cy="219456"/>
          </a:xfrm>
          <a:prstGeom prst="rect">
            <a:avLst/>
          </a:prstGeom>
          <a:solidFill>
            <a:srgbClr val="9A6B00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5" name="Text 22"/>
          <p:cNvSpPr/>
          <p:nvPr/>
        </p:nvSpPr>
        <p:spPr>
          <a:xfrm>
            <a:off x="320040" y="223113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1248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/api/shipments/{id}/cancel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172968" y="2249424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8" name="Text 25"/>
          <p:cNvSpPr/>
          <p:nvPr/>
        </p:nvSpPr>
        <p:spPr>
          <a:xfrm>
            <a:off x="3172968" y="22494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877056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shipment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0040" y="2555748"/>
            <a:ext cx="475488" cy="219456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1" name="Text 28"/>
          <p:cNvSpPr/>
          <p:nvPr/>
        </p:nvSpPr>
        <p:spPr>
          <a:xfrm>
            <a:off x="320040" y="255574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41248" y="25374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/api/shipments/rate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172968" y="2574036"/>
            <a:ext cx="658368" cy="18288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4" name="Text 31"/>
          <p:cNvSpPr/>
          <p:nvPr/>
        </p:nvSpPr>
        <p:spPr>
          <a:xfrm>
            <a:off x="3172968" y="257403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877056" y="25374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2862072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7" name="Shape 34"/>
          <p:cNvSpPr/>
          <p:nvPr/>
        </p:nvSpPr>
        <p:spPr>
          <a:xfrm>
            <a:off x="320040" y="2880360"/>
            <a:ext cx="475488" cy="219456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8" name="Text 35"/>
          <p:cNvSpPr/>
          <p:nvPr/>
        </p:nvSpPr>
        <p:spPr>
          <a:xfrm>
            <a:off x="320040" y="28803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41248" y="2862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/api/payment/create-order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172968" y="2898648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1" name="Text 38"/>
          <p:cNvSpPr/>
          <p:nvPr/>
        </p:nvSpPr>
        <p:spPr>
          <a:xfrm>
            <a:off x="3172968" y="289864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877056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payment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040" y="3204972"/>
            <a:ext cx="475488" cy="219456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4" name="Text 41"/>
          <p:cNvSpPr/>
          <p:nvPr/>
        </p:nvSpPr>
        <p:spPr>
          <a:xfrm>
            <a:off x="320040" y="32049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41248" y="31866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/api/payment/verify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172968" y="3223260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7" name="Text 44"/>
          <p:cNvSpPr/>
          <p:nvPr/>
        </p:nvSpPr>
        <p:spPr>
          <a:xfrm>
            <a:off x="3172968" y="322326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877056" y="31866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Razorpay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4320" y="3511296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0" name="Shape 47"/>
          <p:cNvSpPr/>
          <p:nvPr/>
        </p:nvSpPr>
        <p:spPr>
          <a:xfrm>
            <a:off x="320040" y="3529584"/>
            <a:ext cx="475488" cy="219456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1" name="Text 48"/>
          <p:cNvSpPr/>
          <p:nvPr/>
        </p:nvSpPr>
        <p:spPr>
          <a:xfrm>
            <a:off x="320040" y="352958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41248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/api/tracking/{trackingNo}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172968" y="3547872"/>
            <a:ext cx="658368" cy="1828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4" name="Text 51"/>
          <p:cNvSpPr/>
          <p:nvPr/>
        </p:nvSpPr>
        <p:spPr>
          <a:xfrm>
            <a:off x="3172968" y="354787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877056" y="3511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timeline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20040" y="3854196"/>
            <a:ext cx="475488" cy="219456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7" name="Text 54"/>
          <p:cNvSpPr/>
          <p:nvPr/>
        </p:nvSpPr>
        <p:spPr>
          <a:xfrm>
            <a:off x="320040" y="385419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41248" y="38359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/api/tracking/delivery-proof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3172968" y="3872484"/>
            <a:ext cx="658368" cy="182880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0" name="Text 57"/>
          <p:cNvSpPr/>
          <p:nvPr/>
        </p:nvSpPr>
        <p:spPr>
          <a:xfrm>
            <a:off x="3172968" y="387248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JWT+ADMIN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877056" y="38359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proof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274320" y="4160520"/>
            <a:ext cx="50292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3" name="Shape 60"/>
          <p:cNvSpPr/>
          <p:nvPr/>
        </p:nvSpPr>
        <p:spPr>
          <a:xfrm>
            <a:off x="320040" y="4178808"/>
            <a:ext cx="475488" cy="21945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4" name="Text 61"/>
          <p:cNvSpPr/>
          <p:nvPr/>
        </p:nvSpPr>
        <p:spPr>
          <a:xfrm>
            <a:off x="320040" y="417880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841248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/api/admin/shipments/status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172968" y="4197096"/>
            <a:ext cx="658368" cy="182880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7" name="Text 64"/>
          <p:cNvSpPr/>
          <p:nvPr/>
        </p:nvSpPr>
        <p:spPr>
          <a:xfrm>
            <a:off x="3172968" y="419709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JWT+ADMIN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3877056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5532120" y="1078992"/>
            <a:ext cx="32918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70" name="Shape 67"/>
          <p:cNvSpPr/>
          <p:nvPr/>
        </p:nvSpPr>
        <p:spPr>
          <a:xfrm>
            <a:off x="5532120" y="1078992"/>
            <a:ext cx="59436" cy="76809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7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261872"/>
            <a:ext cx="274320" cy="274320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6080760" y="114300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200" dirty="0"/>
          </a:p>
        </p:txBody>
      </p:sp>
      <p:sp>
        <p:nvSpPr>
          <p:cNvPr id="73" name="Text 69"/>
          <p:cNvSpPr/>
          <p:nvPr/>
        </p:nvSpPr>
        <p:spPr>
          <a:xfrm>
            <a:off x="6089904" y="14264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Issuer: SmartShipGateway · Audience: SmartShipClients · Symmetric signing key shared across all services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5532120" y="1965960"/>
            <a:ext cx="32918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75" name="Shape 71"/>
          <p:cNvSpPr/>
          <p:nvPr/>
        </p:nvSpPr>
        <p:spPr>
          <a:xfrm>
            <a:off x="5532120" y="1965960"/>
            <a:ext cx="59436" cy="768096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7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2148840"/>
            <a:ext cx="274320" cy="274320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6080760" y="202996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78" name="Text 73"/>
          <p:cNvSpPr/>
          <p:nvPr/>
        </p:nvSpPr>
        <p:spPr>
          <a:xfrm>
            <a:off x="6080760" y="2313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[Authorize] for authenticated routes · [Authorize(Roles="ADMIN")] for admin-only operations</a:t>
            </a:r>
            <a:endParaRPr lang="en-US" sz="900" dirty="0"/>
          </a:p>
        </p:txBody>
      </p:sp>
      <p:sp>
        <p:nvSpPr>
          <p:cNvPr id="79" name="Shape 74"/>
          <p:cNvSpPr/>
          <p:nvPr/>
        </p:nvSpPr>
        <p:spPr>
          <a:xfrm>
            <a:off x="5532120" y="2852928"/>
            <a:ext cx="32918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80" name="Shape 75"/>
          <p:cNvSpPr/>
          <p:nvPr/>
        </p:nvSpPr>
        <p:spPr>
          <a:xfrm>
            <a:off x="5532120" y="2852928"/>
            <a:ext cx="59436" cy="768096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035808"/>
            <a:ext cx="274320" cy="274320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6080760" y="291693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</a:t>
            </a:r>
            <a:endParaRPr lang="en-US" sz="1200" dirty="0"/>
          </a:p>
        </p:txBody>
      </p:sp>
      <p:sp>
        <p:nvSpPr>
          <p:cNvPr id="83" name="Text 77"/>
          <p:cNvSpPr/>
          <p:nvPr/>
        </p:nvSpPr>
        <p:spPr>
          <a:xfrm>
            <a:off x="6080760" y="321507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ClaimTypes.NameIdentifier extracted to verify resource belongs to caller — prevents cross-user access</a:t>
            </a:r>
            <a:endParaRPr lang="en-US" sz="900" dirty="0"/>
          </a:p>
        </p:txBody>
      </p:sp>
      <p:sp>
        <p:nvSpPr>
          <p:cNvPr id="84" name="Shape 78"/>
          <p:cNvSpPr/>
          <p:nvPr/>
        </p:nvSpPr>
        <p:spPr>
          <a:xfrm>
            <a:off x="5532120" y="3739896"/>
            <a:ext cx="32918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85" name="Shape 79"/>
          <p:cNvSpPr/>
          <p:nvPr/>
        </p:nvSpPr>
        <p:spPr>
          <a:xfrm>
            <a:off x="5532120" y="3739896"/>
            <a:ext cx="59436" cy="76809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8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3922776"/>
            <a:ext cx="274320" cy="274320"/>
          </a:xfrm>
          <a:prstGeom prst="rect">
            <a:avLst/>
          </a:prstGeom>
        </p:spPr>
      </p:pic>
      <p:sp>
        <p:nvSpPr>
          <p:cNvPr id="87" name="Text 80"/>
          <p:cNvSpPr/>
          <p:nvPr/>
        </p:nvSpPr>
        <p:spPr>
          <a:xfrm>
            <a:off x="6080760" y="38039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Middleware</a:t>
            </a:r>
            <a:endParaRPr lang="en-US" sz="1200" dirty="0"/>
          </a:p>
        </p:txBody>
      </p:sp>
      <p:sp>
        <p:nvSpPr>
          <p:cNvPr id="88" name="Text 81"/>
          <p:cNvSpPr/>
          <p:nvPr/>
        </p:nvSpPr>
        <p:spPr>
          <a:xfrm>
            <a:off x="6080760" y="4050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ExceptionMiddleware centralizes error handling — returns structured 400/401/403/404 responses</a:t>
            </a:r>
            <a:endParaRPr lang="en-US" sz="900" dirty="0"/>
          </a:p>
        </p:txBody>
      </p:sp>
      <p:sp>
        <p:nvSpPr>
          <p:cNvPr id="89" name="Shape 8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90" name="Text 83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1" name="Text 84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COMMUNICATION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+ MassTransit · Async Messaging · Shared Event Contracts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58418"/>
            <a:ext cx="8595360" cy="38404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77440" y="10789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49040" y="1078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078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1472184"/>
            <a:ext cx="8595360" cy="4114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0"/>
          <p:cNvSpPr/>
          <p:nvPr/>
        </p:nvSpPr>
        <p:spPr>
          <a:xfrm>
            <a:off x="365760" y="14813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ShipmentCreatedEvent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77440" y="14813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49040" y="14813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TrackingService, AdminService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tracking timeline + admin metrics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19065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ShipmentStatusUpdatedEvent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377440" y="19065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49040" y="19065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19065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status change to timeline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322576"/>
            <a:ext cx="8595360" cy="4114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19"/>
          <p:cNvSpPr/>
          <p:nvPr/>
        </p:nvSpPr>
        <p:spPr>
          <a:xfrm>
            <a:off x="365760" y="2331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ShipmentDeliveredEvent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7744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749040" y="2331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TrackingService, AdminService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delivered + update admin stats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5760" y="27569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ShipmentCancelledByCustomerEvent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377440" y="27569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49040" y="27569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27569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cancellation with refund context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3172968"/>
            <a:ext cx="8595360" cy="4114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1" name="Text 28"/>
          <p:cNvSpPr/>
          <p:nvPr/>
        </p:nvSpPr>
        <p:spPr>
          <a:xfrm>
            <a:off x="365760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PaymentCreatedEvent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377440" y="31821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749040" y="31821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6364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PaymentCreated tracking event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36073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PaymentCompletedEvent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377440" y="36073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749040" y="36073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TrackingService, AdminService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263640" y="36073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PaymentSuccessful entry + metrics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0" name="Text 37"/>
          <p:cNvSpPr/>
          <p:nvPr/>
        </p:nvSpPr>
        <p:spPr>
          <a:xfrm>
            <a:off x="365760" y="40325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PaymentFailedEvent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377440" y="40325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749040" y="40325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TrackingService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63640" y="40325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PaymentFailed tracking event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65760" y="44577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UserCreatedEvent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377440" y="44577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749040" y="44577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263640" y="44577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user record to admin DB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IN" sz="2400" dirty="0"/>
          </a:p>
        </p:txBody>
      </p:sp>
      <p:sp>
        <p:nvSpPr>
          <p:cNvPr id="50" name="Shape 4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1" name="Text 48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&amp; ENTITIES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Pattern · EF Core · SQL Server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2743200" cy="3529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2743200" cy="38404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1078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Domain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1572768"/>
            <a:ext cx="2560320" cy="27432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1480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Shipment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1865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CustomerId, TrackingNumber, ShipmentType, Status, ShippingRate, PickupScheduledAt, DeliveredAt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2468880"/>
            <a:ext cx="2560320" cy="27432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114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Address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" y="27614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FullName, Phone, Street, City, State, PostalCode, Country (Sender &amp; Receiver)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3364992"/>
            <a:ext cx="2560320" cy="27432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11480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Package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4048" y="365760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WeightKg, LengthCm, WidthCm, HeightCm, Description, DeclaredValue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27832" y="1078992"/>
            <a:ext cx="2743200" cy="3529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227832" y="1078992"/>
            <a:ext cx="2743200" cy="384048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27832" y="1078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Domain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19272" y="1572768"/>
            <a:ext cx="2560320" cy="27432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364992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ShipmentPayment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337560" y="1865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ShipmentId, TrackingNumber, Amount, PaymentMethod, PaymentStatus, RazorpayOrderId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319272" y="2468880"/>
            <a:ext cx="2560320" cy="27432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364992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SagaCorrelation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337560" y="27614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ShipmentId, CorrelationId — links async actions across Shipment &amp; Payment services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81344" y="1078992"/>
            <a:ext cx="2743200" cy="3529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181344" y="1078992"/>
            <a:ext cx="2743200" cy="384048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181344" y="1078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Domain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72784" y="1572768"/>
            <a:ext cx="2560320" cy="274320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318504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TrackingEvent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91072" y="1865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ShipmentId, TrackingNumber, Status, Location, Description, EventTime, UpdatedBy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272784" y="2468880"/>
            <a:ext cx="2560320" cy="274320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318504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DeliveryProof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91072" y="27614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ShipmentId, ReceiverName, SignatureImagePath, PhotoPath, Notes, DeliveredAt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272784" y="3364992"/>
            <a:ext cx="2560320" cy="274320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318504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Document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291072" y="365760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ShipmentId, FileName, FilePath, DocumentType, FileSizeBytes, UploadedByUserId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03538" y="4658868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Patterns: Repository + Unit of Work + DTO contracts · TrackingNumber indexed · DeliveryProof unique per shipment · Enum-to-string conversion</a:t>
            </a:r>
            <a:endParaRPr lang="en-US" sz="900" b="1" dirty="0"/>
          </a:p>
        </p:txBody>
      </p:sp>
      <p:sp>
        <p:nvSpPr>
          <p:cNvPr id="42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LIFECYCLE FLOW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from booking to delivery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1188720" cy="56692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0" y="1316736"/>
            <a:ext cx="228600" cy="91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874520" y="1078992"/>
            <a:ext cx="1188720" cy="56692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87452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63240" y="1316736"/>
            <a:ext cx="228600" cy="91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91840" y="1078992"/>
            <a:ext cx="1188720" cy="566928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9184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PickedUp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0" y="1316736"/>
            <a:ext cx="228600" cy="91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709160" y="1078992"/>
            <a:ext cx="1188720" cy="566928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0916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InTransit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97880" y="1316736"/>
            <a:ext cx="228600" cy="91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126480" y="1078992"/>
            <a:ext cx="1188720" cy="566928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12648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0" y="1316736"/>
            <a:ext cx="228600" cy="91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543800" y="1078992"/>
            <a:ext cx="1188720" cy="566928"/>
          </a:xfrm>
          <a:prstGeom prst="rect">
            <a:avLst/>
          </a:prstGeom>
          <a:solidFill>
            <a:srgbClr val="1A7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543800" y="1078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1810512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274320" y="1810512"/>
            <a:ext cx="347472" cy="6400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1810512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13232" y="1847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authenticates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22376" y="1969713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 issues JWT token → used in all subsequent requests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2569464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274320" y="2569464"/>
            <a:ext cx="347472" cy="64008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74320" y="2569464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13232" y="26060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Shipment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13232" y="2871216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/api/shipments → validates customer → saves Shipment+Address+Package → publishes ShipmentCreatedEvent → returns TrackingNumber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74320" y="3328416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74320" y="3328416"/>
            <a:ext cx="347472" cy="64008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3328416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13232" y="3364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Propagation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13232" y="3536203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→ TrackingService creates Draft TrackingEvent · AdminService updates metrics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74320" y="4087368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274320" y="4087368"/>
            <a:ext cx="347472" cy="64008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274320" y="4087368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13232" y="41239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Order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22376" y="432054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/api/payment/create-order → PaymentService validates shipment · saves Pending record · publishes PaymentCreatedEvent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663440" y="1810512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4663440" y="1810512"/>
            <a:ext cx="347472" cy="64008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663440" y="1810512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102352" y="1847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Verify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111496" y="2077121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/api/payment/verify → marks Paid → publishes PaymentCompletedEvent → TrackingService appends PaymentSuccessful entry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663440" y="2569464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4663440" y="2569464"/>
            <a:ext cx="347472" cy="64008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663440" y="2569464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102352" y="26060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Pickup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111496" y="27843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/api/shipments/pickup/{id} → ShipmentService checks payment Paid → sets status Booked → publishes ShipmentStatusUpdatedEvent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663440" y="3328416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4663440" y="3328416"/>
            <a:ext cx="347472" cy="640080"/>
          </a:xfrm>
          <a:prstGeom prst="rect">
            <a:avLst/>
          </a:prstGeom>
          <a:solidFill>
            <a:srgbClr val="7A4A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4663440" y="3328416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5102352" y="3364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Updates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5111496" y="358895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status (InTransit, OutForDelivery) → ShipmentStatusUpdatedEvent → TrackingService appends new timeline entries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663440" y="4087368"/>
            <a:ext cx="4160520" cy="640080"/>
          </a:xfrm>
          <a:prstGeom prst="rect">
            <a:avLst/>
          </a:prstGeom>
          <a:solidFill>
            <a:srgbClr val="F6F9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663440" y="4087368"/>
            <a:ext cx="347472" cy="640080"/>
          </a:xfrm>
          <a:prstGeom prst="rect">
            <a:avLst/>
          </a:prstGeom>
          <a:solidFill>
            <a:srgbClr val="1A7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663440" y="4087368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5102352" y="41239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Proof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102352" y="4294405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Delivered → ShipmentDeliveredEvent → Admin uploads delivery proof (signature + photo) via /api/tracking/delivery-proof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 &amp; CI/CD (JENKINS)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with health-aware orchestration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59436" cy="3520440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4114800" cy="411480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7472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&amp; Docker Compose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1636776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4360" y="160020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18470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SDK build → ASP.NET runtime, port 8080 exposed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048" y="2130552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4360" y="2093976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23408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gets its own SQL Server connection string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048" y="2624328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4360" y="258775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Health-aware Startup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" y="28346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with health checks prevents race conditions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3118104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4360" y="3081528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Topology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4360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:1434 · RabbitMQ :5672/:15672 · Jenkins :8080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" y="3611880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4360" y="3575304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Allocation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4360" y="382219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Gateway:5000 · Identity:5001 · Shipment:5002 · Track:5003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048" y="4105656"/>
            <a:ext cx="128016" cy="128016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94360" y="406908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4360" y="43159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DockerJenkins runtime env · EF Core migrations on startup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17720" y="1078992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617720" y="1078992"/>
            <a:ext cx="59436" cy="3520440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617720" y="1078992"/>
            <a:ext cx="4206240" cy="411480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690872" y="1078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Jenkins CI/CD Pipeline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27448" y="1636776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937760" y="16002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Rebuild Logic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937760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services are rebuilt — not the entire platform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27448" y="2130552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37760" y="20939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Rebuild Trigger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937760" y="2340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when: docker-compose.yml, nuget.config, Jenkinsfile, shared packages modified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27448" y="2624328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937760" y="25877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937760" y="2834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checkout  2. Change detection  3. Conditional restore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27448" y="3118104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937760" y="3081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937760" y="33284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Service-specific Docker build  5. docker compose up --no-deps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27448" y="3611880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937760" y="35753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Reporting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937760" y="38221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Build result &amp; affected services reported in final stage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727448" y="4105656"/>
            <a:ext cx="128016" cy="128016"/>
          </a:xfrm>
          <a:prstGeom prst="rect">
            <a:avLst/>
          </a:prstGeom>
          <a:solidFill>
            <a:srgbClr val="E05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4937760" y="40690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Goal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937760" y="4315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build time by targeting only impacted microservices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 LMS  |  Capgemini Project Evaluation  |  Confidential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 &amp; KEY ALGORITHMS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Integration tests · Business logic rules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59436" cy="3520440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4160520" cy="38404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7472" y="1078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1572768"/>
            <a:ext cx="3931920" cy="24688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157276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 Tests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1837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protection, role restrictions, rate calculations by shipment type &amp; weight, payment preconditions for pickup, state transition validation, outbound event publication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048" y="2386584"/>
            <a:ext cx="3931920" cy="24688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238658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Tests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2651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HTTP clients/context, JWT generation, authentication failures, ownership validation, not-found handling, payment state transitions, saga-correlation behavior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048" y="3200400"/>
            <a:ext cx="3931920" cy="24688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320040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4655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authorization checks, route behavior, structured error response format (400/401/403/404)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4014216"/>
            <a:ext cx="3931920" cy="24688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7200" y="4014216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Infra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38912" y="4223027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ShipmentServiceFactory, mock publish endpoints, in-memory DB replacements, mocked IHttpClientFactory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078992"/>
            <a:ext cx="41605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663440" y="1078992"/>
            <a:ext cx="59436" cy="3520440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663440" y="1078992"/>
            <a:ext cx="4160520" cy="384048"/>
          </a:xfrm>
          <a:prstGeom prst="rect">
            <a:avLst/>
          </a:prstGeom>
          <a:solidFill>
            <a:srgbClr val="0089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736592" y="1078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Algorithms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73168" y="1572768"/>
            <a:ext cx="3931920" cy="246888"/>
          </a:xfrm>
          <a:prstGeom prst="rect">
            <a:avLst/>
          </a:prstGeom>
          <a:solidFill>
            <a:srgbClr val="E8F8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846320" y="157276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46320" y="1837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pricing by ShipmentType × WeightKg with minimum-rate enforcement for low-weight domestic shipments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73168" y="2386584"/>
            <a:ext cx="3931920" cy="246888"/>
          </a:xfrm>
          <a:prstGeom prst="rect">
            <a:avLst/>
          </a:prstGeom>
          <a:solidFill>
            <a:srgbClr val="E8F8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846320" y="238658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Event Guard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846320" y="2651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repeated tracking entries: checks TrackingNumber + Status + Location within 1-minute time window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73168" y="3200400"/>
            <a:ext cx="3931920" cy="246888"/>
          </a:xfrm>
          <a:prstGeom prst="rect">
            <a:avLst/>
          </a:prstGeom>
          <a:solidFill>
            <a:srgbClr val="E8F8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846320" y="320040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 Validation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46320" y="34655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legal shipment state machine (Draft→Booked→PickedUp→InTransit→OutForDelivery→Delivered/Cancelled)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73168" y="4014216"/>
            <a:ext cx="3931920" cy="246888"/>
          </a:xfrm>
          <a:prstGeom prst="rect">
            <a:avLst/>
          </a:prstGeom>
          <a:solidFill>
            <a:srgbClr val="E8F8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846320" y="4014216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Validation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23460" y="42357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claim (ClaimTypes.NameIdentifier) compared to resource owner — blocks cross-user access in Shipment &amp; Payment services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9286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 LMS  |  Capgemini Project Evaluation  | 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73152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CAPGEMINI ALIGNMENT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1554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155448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47472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11680" y="1078992"/>
            <a:ext cx="1554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0" y="1078992"/>
            <a:ext cx="155448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01168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084832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9040" y="1078992"/>
            <a:ext cx="1554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749040" y="1078992"/>
            <a:ext cx="155448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74904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822192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(JWT-secured)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0" y="1078992"/>
            <a:ext cx="1554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486400" y="1078992"/>
            <a:ext cx="155448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5559552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223760" y="1078992"/>
            <a:ext cx="1554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223760" y="1078992"/>
            <a:ext cx="155448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22376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7296912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(Jenkins)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2578608"/>
            <a:ext cx="9144000" cy="2103120"/>
          </a:xfrm>
          <a:prstGeom prst="rect">
            <a:avLst/>
          </a:prstGeom>
          <a:solidFill>
            <a:srgbClr val="002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" y="2670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Engineering Values — Demonstrated in SmartShip</a:t>
            </a:r>
            <a:endParaRPr lang="en-US" sz="14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33472"/>
            <a:ext cx="1965960" cy="4114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4360" y="3092583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Delivery: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637117" y="313034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independently deployable services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sprint-friendly architecture</a:t>
            </a:r>
            <a:endParaRPr lang="en-US" sz="9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75888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3747" y="356407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637117" y="360959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+ RabbitMQ async model enables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per service</a:t>
            </a:r>
            <a:endParaRPr lang="en-US" sz="9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51376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94360" y="4043695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Culture: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641211" y="4056797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Jenkins CI/CD with selective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= production-grade pipeline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446" y="3152769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654160" y="30449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Architecture: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915896" y="3092583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UoW + DTO + SOLID — maintainable and testable codebase</a:t>
            </a:r>
            <a:endParaRPr lang="en-US" sz="9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521" y="3671095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660984" y="356785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Design: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915896" y="358444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+ claim ownership checks across all service boundaries</a:t>
            </a:r>
            <a:endParaRPr lang="en-US" sz="95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151376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681456" y="4043695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943600" y="4070991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structured logging + health endpoints for all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8686800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5F845-A168-EDFD-F367-6A92627B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10064"/>
            <a:ext cx="8458200" cy="412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80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02150-75C4-8859-6CC4-6B212BECD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49"/>
          <a:stretch>
            <a:fillRect/>
          </a:stretch>
        </p:blipFill>
        <p:spPr>
          <a:xfrm>
            <a:off x="342914" y="342900"/>
            <a:ext cx="8458172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69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C3C772-1081-12A2-2059-F3D6EA88F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99491"/>
            <a:ext cx="8458200" cy="414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2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F3524-63C7-28AC-C260-BD55D2A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88918"/>
            <a:ext cx="8458200" cy="41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74FDB-E8BA-7BF7-4B91-232ABE09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99491"/>
            <a:ext cx="8458200" cy="414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07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347472" cy="5015484"/>
          </a:xfrm>
          <a:prstGeom prst="rect">
            <a:avLst/>
          </a:prstGeom>
          <a:solidFill>
            <a:srgbClr val="0070A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303520" y="548640"/>
            <a:ext cx="3566160" cy="3566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4320"/>
            <a:ext cx="2743200" cy="576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0515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8" name="Shape 4"/>
          <p:cNvSpPr/>
          <p:nvPr/>
        </p:nvSpPr>
        <p:spPr>
          <a:xfrm>
            <a:off x="548640" y="2286000"/>
            <a:ext cx="5029200" cy="45720"/>
          </a:xfrm>
          <a:prstGeom prst="rect">
            <a:avLst/>
          </a:prstGeom>
          <a:solidFill>
            <a:srgbClr val="12A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SmartShip — Engineered for scale, designed for clarity.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30175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1421</Words>
  <Application>Microsoft Office PowerPoint</Application>
  <PresentationFormat>On-screen Show (16:9)</PresentationFormat>
  <Paragraphs>288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SmartShip Logistics Management System – Capgemini Project Evaluation</dc:title>
  <dc:subject>PptxGenJS Presentation</dc:subject>
  <dc:creator>PptxGenJS</dc:creator>
  <cp:lastModifiedBy>Saurabh Rana</cp:lastModifiedBy>
  <cp:revision>12</cp:revision>
  <dcterms:created xsi:type="dcterms:W3CDTF">2026-04-19T07:26:24Z</dcterms:created>
  <dcterms:modified xsi:type="dcterms:W3CDTF">2026-05-30T10:49:51Z</dcterms:modified>
</cp:coreProperties>
</file>